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591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43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RANCANG BANGUN SISTEM PENGAMANAN PESAN BERBASIS</a:t>
            </a:r>
            <a:br/>
            <a:r>
              <a:t>HYBRID CRYPTOGRAPHY AES-RSA MENGGUNAKAN</a:t>
            </a:r>
            <a:br/>
            <a:r>
              <a:t>ALGORITMA NAIVE BAYES</a:t>
            </a:r>
          </a:p>
          <a:p>
            <a:pPr algn="ctr">
              <a:spcBef>
                <a:spcPts val="800"/>
              </a:spcBef>
              <a:defRPr sz="1500">
                <a:solidFill>
                  <a:srgbClr val="0EA5E9"/>
                </a:solidFill>
                <a:latin typeface="Calibri"/>
              </a:defRPr>
            </a:pPr>
            <a:r>
              <a:t>Aplikasi Chatting E2EE 'ChatKu' dengan Deteksi Risiko Lokal (Client-Side)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Oleh Peneliti: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• Dimas Kurniawan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NIM: 2022573010009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Program Studi: Teknik Informatika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Politeknik Negeri Lhokseumawe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9260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Komisi Sidang &amp; Pembimbing: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• Pembimbing I / Ketua Sidang: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M. Khadafi, S.T., M.T.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• Pembimbing II / Sekretaris Sidang: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Muhammad Reza Zulman, S.S.T., M.Sc.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Dosen Penguji: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Penguji I: Salahuddin, S.T., M.Cs.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Penguji II: Zulfan Khairil Simbolon, S.T., M.Eng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Penguji III: Mahdi, S.T., M.Cs.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Latar Belakang &amp; Urgensi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Trebuchet MS"/>
              </a:defRPr>
            </a:pPr>
            <a:r>
              <a:t>PERMASALAHAN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Tingginya volume komunikasi data sensitif (personal, finansial, kredensial) pada aplikasi pesan instan.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Maraknya ancaman siber berupa phishing, penyebaran malware via file APK palsu, dan social engineering di Indonesia.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Enkripsi E2EE standar mengamankan data secara agnostik, seluruh pesan baik yang biasa maupun yang berisi ancaman/penipuan diamankan secara sama sehingga penerima tetap menerima konten berbahaya.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Proses klasifikasi risiko di sisi server (Server-Side Decryption) melanggar privasi mutlak pengguna karena server harus membuka plaintext pesan asli.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SOLUSI YANG DIUSULKAN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Client-Side Classification: Deteksi tingkat risiko pesan otomatis dijalankan lokal di RAM HP pengirim menggunakan model Naive Bayes.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Fallback Content Replacement: Pesan terdeteksi Berisiko diganti menjadi pesan fallback lokal ('Pesan ini terindikasi berisiko') sebelum enkripsi.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Hybrid Cryptography AES-RSA: Pesan aman dienkripsi end-to-end dengan AES-256-CBC, sedangkan kunci AES dilindungi dengan RSA-2048.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Zero-Knowledge &amp; Zero-Storage Server: Server FastAPI dan MongoDB murni bertindak sebagai router buta data yang hanya menyimpan ciphertext acak.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Rumusan Masalah &amp; Batasan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RUMUSAN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Bagaimana merancang sistem pengamanan pesan berbasis Hybrid Cryptography AES-RSA yang dikombinasikan dengan Naive Bayes untuk klasifikasi risiko?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Bagaimana tingkat akurasi algoritma Naive Bayes dalam mengklasifikasikan tingkat risiko data pesan secara offline?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Bagaimana hasil pengujian keamanan dan fungsionalitas sistem yang dirancang?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BATASAN 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Proses pengamanan dan enkripsi hanya diterapkan pada pesan dalam bentuk teks.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Kategori tingkat risiko dibatasi pada dua kelas utama: Berisiko (ancaman siber, kata kasar, phishing) dan Tidak Berisiko.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Algoritma kriptografi dibatasi pada Hybrid AES-256-CBC (untuk data pesan) dan RSA-2048 (untuk kunci AES).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4. Kunci privat RSA disimpan secara mandiri dan lokal di perangkat klien, tidak diunggah ke server.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5. Pengujian keamanan dibatasi pada simulasi serangan transmisi data (MITM) dan integritas log database (SHA-256).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Arsitektur &amp; Alur Kerja Sistem ChatKu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1. PRAPEMROSESAN LOKAL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Pengirim mengetik pesan teks di UI aplikasi.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Case Folding: Mengubah huruf menjadi lowercase.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Pattern Replacement: Regex mengganti pola sensitif (URL, nomor HP, OTP, nominal uang) menjadi token khusus.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Tokenisasi &amp; Stopword removal.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Stemming Sastrawi: Mengembalikan kata berimbuhan ke kata dasar Bahasa Indonesia.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2. DETEKSI RISIKO (CLIENT)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Model Naive Bayes + Safety Net (Daftar Kata Kasar/Obfuscation) di perangkat mengevaluasi teks bersih.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Keputusan Pengiriman: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43F5E"/>
                </a:solidFill>
                <a:latin typeface="Calibri"/>
              </a:defRPr>
            </a:pPr>
            <a:r>
              <a:t>  - Jika Berisiko: Teks asli diganti lokal dengan pesan fallback: 'Pesan ini terindikasi berisiko'.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10B981"/>
                </a:solidFill>
                <a:latin typeface="Calibri"/>
              </a:defRPr>
            </a:pPr>
            <a:r>
              <a:t>  - Jika Aman: Pesan asli dipertahankan.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Pembersihan RAM: Data sensitif dihapus dari RAM setelah klasifikasi selesai.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3. HYBRID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AES-256 dibangkitkan acak per pesan.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Pesan dienkripsi AES-256-CBC.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AES dienkripsi dengan RSA-2048 menggunakan kunci publik Penerima (ek_user) dan kunci publik Pengirim (ek_sender).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Plaintext di-hash SHA-256.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Payload terenkripsi dikirim via WebSocket ke MongoDB. Server murni menyimpan ciphertext.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Data, Sumber Dataset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SUMBER DATA &amp; PEMBAGIAN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Dataset Awal: 38.070 sampel pesan Bahasa Indonesia.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Pembersihan data (Data Cleaning) membuang 1.700 sampel tidak layak. Sisa: 37.130 sampel final.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Distribusi Kelas (Tabel 4.1):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Berisiko: 4.196 sampel (11,0%)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Tidak Berisiko: 33.890 sampel (89,0%)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Rasio ketidakseimbangan kelas (imbalance ratio) sebesar 1:10,2.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Pembagian Subset Data (70:15:15):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Latih: 25.991 sampel (70%)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Validasi: 5.394 sampel (15%)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Uji: 5.394 sampel (15%)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TAHAHPAN PREPROCESSING LOKAL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Case Folding: Mengubah seluruh karakter menjadi huruf kecil.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Pattern Replacement (Regex): Mengubah pola khusus: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URL/Link mencurigakan → token 'URL_CURIGA'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Nomor Telepon/HP asing → token 'NOMOR_HP_ASING'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Kode OTP (5-8 digit) → token 'KODE_OTP'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Nominal Uang (Rp...) → token 'NOMINAL_UANG'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Tokenisasi: Memecah kalimat menjadi token kata berdasarkan spasi.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Stopword Removal: Menghapus kata umum Bahasa Indonesia (yang, di, ke, dll.) dengan mengecualikan kata kasar.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Stemming Sastrawi: Mengubah kata berimbuhan menjadi kata dasar Bahasa Indonesia.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Skema Kriptografi Hybrid &amp; Integritas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ENKRIPSI DATA: AES-256-CBC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Menggunakan Advanced Encryption Standard (AES) simetris dengan kunci 256-bit.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Mode operasi CBC (Cipher Block Chaining) dengan Initialization Vector (IV) 16-byte acak.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Penerapan One-Time Key: Setiap pesan baru membangkitkan kunci AES &amp; IV acak, sehingga ciphertext selalu berbeda meski isi pesan sama.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Padding PKCS#7 menyelaraskan panjang pesan kelipatan 16-byte.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Trebuchet MS"/>
              </a:defRPr>
            </a:pPr>
            <a:r>
              <a:t>DISTRIBUSI KUNCI: RSA-2048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Kunci AES dilindungi secara asimetris dengan RSA-2048 (padding PKCS#1 v1.5 / OAEP).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Skema Dual-Key Encryption: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ek_user: Kunci AES dienkripsi dengan kunci publik Penerima agar hanya penerima yang bisa membaca.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ek_sender: Kunci AES dienkripsi dengan kunci publik Pengirim agar pengirim bisa membaca riwayat chat sendiri.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Kunci privat disimpan di perangkat klien, server tidak pernah menerima kunci privat.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SEGAL HASH &amp; DB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SHA-256 Integrity Verification: Nilai hash SHA-256 dari plaintext asli dihitung sebelum enkripsi.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Hash dikirim bersama ciphertext dan diverifikasi ulang pasca dekripsi di penerima.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Struktur database MongoDB hanya menyimpan: ciphertext, IV, ek_user, ek_sender, dan hash SHA-256. Server murni buta data (Zero-Knowledge).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Implementasi Sistem &amp; Antarmuka Aplikasi ChatKu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STACK TEKNOLOGI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Frontend Mobile: React Native (TypeScript)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Library Kriptografi: node-forge (RSA-OAEP), react-native-aes-crypto (AES-256-CBC).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Stemming Bahasa Indonesia: Library Sastrawi JS yang berjalan lokal di RAM HP pengirim.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Backend FastAPI: Python-based web server berkinerja tinggi (ASGI).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Protokol WebSocket real-time untuk transmisi payload terenkripsi secara instan.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Database MongoDB: Penyimpanan NoSQL berkinerja tinggi untuk user, pesan terenkripsi, dan forensic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FITUR ANTARMUKA UTAMA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Onboarding Page: Memandu pengguna memahami E2EE, Zero-Storage, dan Anti-Forensik.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Chatroom Page: Menampilkan chat secara real-time. Jika sensor AI mendeteksi pesan berisiko kasar, pengiriman langsung diblokir secara lokal dan diganti pesan fallback.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Security Center Dashboard: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Dashboard: Menampilkan skor keamanan dan fitur aktif.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Key Verify: Menampilkan fingerprint kunci publik RSA untuk memverifikasi kontak guna mencegah serangan MITM.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Forensic Log: Riwayat aktivitas keamanan (auth, crypto, access) yang dilindungi SHA-256.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Hasil Pengujian &amp; Akurasi Model Naive Bayes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METRIK EVALUASI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Model Klasifikasi: Multinomial Naive Bayes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Alpha = 1.0 (Laplace Smoothing) | Fitur: TF-IDF N-Gram (1,2) dengan 9.847 kata unik.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Akurasi Rata-rata (Weighted Avg): 92,90%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Evaluasi Per Kelas pada Data Uji (Tabel 4.6):</a:t>
            </a:r>
          </a:p>
          <a:p>
            <a:pPr lvl="1">
              <a:spcAft>
                <a:spcPts val="600"/>
              </a:spcAft>
              <a:defRPr sz="950" b="1">
                <a:solidFill>
                  <a:srgbClr val="F8FAFC"/>
                </a:solidFill>
                <a:latin typeface="Calibri"/>
              </a:defRPr>
            </a:pPr>
            <a:r>
              <a:t>  - Kelas Berisiko (Support = 581):</a:t>
            </a:r>
          </a:p>
          <a:p>
            <a:pPr lvl="2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  - Precision: 66,45%  |  Recall: 68,85% (91,5% pada Bab IV/V text)  |  F1-Score: 67,62%</a:t>
            </a:r>
          </a:p>
          <a:p>
            <a:pPr lvl="1">
              <a:spcAft>
                <a:spcPts val="600"/>
              </a:spcAft>
              <a:defRPr sz="950" b="1">
                <a:solidFill>
                  <a:srgbClr val="F8FAFC"/>
                </a:solidFill>
                <a:latin typeface="Calibri"/>
              </a:defRPr>
            </a:pPr>
            <a:r>
              <a:t>  - Kelas Tidak Berisiko (Support = 4.813):</a:t>
            </a:r>
          </a:p>
          <a:p>
            <a:pPr lvl="2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  - Precision: 95,80%  |  Recall: 95,80%  |  F1-Score: 95,80%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Catatan: Nilai recall/precision seimbang diperkuat dengan threshold klasifikasi sebesar 0,65.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CONFUSION MATRIX (DATA UJI)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Matriks Evaluasi Data Uji (5.394 total sampel):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TP (True Positive) = 400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berisiko berhasil terdeteksi dan diblokir lokal.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TN (True Negative) = 4.611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aman diizinkan lolos untuk proses enkripsi.</a:t>
            </a:r>
          </a:p>
          <a:p>
            <a:pPr>
              <a:spcAft>
                <a:spcPts val="600"/>
              </a:spcAft>
              <a:defRPr sz="1100" b="1">
                <a:solidFill>
                  <a:srgbClr val="F43F5E"/>
                </a:solidFill>
                <a:latin typeface="Calibri"/>
              </a:defRPr>
            </a:pPr>
            <a:r>
              <a:t>• FP (False Positive) = 202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aman salah terdeteksi berisiko (false alarm).</a:t>
            </a:r>
          </a:p>
          <a:p>
            <a:pPr>
              <a:spcAft>
                <a:spcPts val="600"/>
              </a:spcAft>
              <a:defRPr sz="1100" b="1">
                <a:solidFill>
                  <a:srgbClr val="F43F5E"/>
                </a:solidFill>
                <a:latin typeface="Calibri"/>
              </a:defRPr>
            </a:pPr>
            <a:r>
              <a:t>• FN (False Negative) = 181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berisiko lolos dari sensor model Naive Bayes.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Mitigasi FN: Safety Net (rule-based filtering) bertindak sebagai penyaring lapis pertama untuk memblokir kata kasar/obfuscation sensitif secara mutlak.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Hasil Pengujian Keamanan &amp; Integritas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AUDIT JARINGAN &amp; BASIS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Penyadapan Jaringan (Wireshark MITM):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Paket WebSocket yang disadap di tengah jalan hanya menampilkan payload Base64 terenkripsi (ciphertext).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Tidak ada plaintext pesan atau kunci AES mentah yang bocor di jaringan transit.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Zero-Knowledge Database Audit: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Isi database MongoDB diperiksa dan terbukti hanya menyimpan payload terenkripsi (ciphertext), IV, ek_user, ek_sender, dan nilai hash.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Server dan database tidak menyimpan teks pesan asli maupun kunci privat pengguna.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VERIFIKASI INTEGRITAS &amp; LOGIKA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Deteksi Manipulasi (SHA-256):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Pengujian manipulasi dilakukan dengan mengubah 1 karakter ciphertext di database MongoDB.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43F5E"/>
                </a:solidFill>
                <a:latin typeface="Calibri"/>
              </a:defRPr>
            </a:pPr>
            <a:r>
              <a:t>  - Sistem di sisi penerima mendeteksi ketidaksesuaian nilai hash SHA-256 pasca dekripsi, menampilkan error, dan menolak merender teks pesan.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Pengujian Logika (White Box Testing):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Pengujian path logika klasifikasi, enkripsi, dan dekripsi pesan menghasilkan Cyclomatic Complexity yang efisien.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Semua jalur percabangan (path) berhasil dilewati dengan tingkat keberhasilan pengujian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Kesimpulan &amp; 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KESIMPULAN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Aplikasi ChatKu berhasil mengintegrasikan Client-Side Naive Bayes dan Hybrid Cryptography AES-RSA secara E2EE murni.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Klasifikasi tingkat risiko berjalan lokal di RAM HP pengirim sehingga kerahasiaan teks dan kunci terjamin penuh dari server.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Model Naive Bayes memperoleh akurasi 92,90% pada data uji dengan model Multinomial NB yang efisien.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4. Pengujian integritas SHA-256 terbukti 100% mendeteksi manipulasi database, dan audit jaringan membuktikan zero-knowledge server berfungsi penuh.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SARAN PENGEMBANGAN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Penerapan Perfect Forward Secrecy (PFS) berbasis Diffie-Hellman agar kebocoran private key tidak membocorkan riwayat chat masa lalu.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Menyeimbangkan dataset dengan menambahkan sampel kata berisiko halus atau sarkasme.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Melakukan pengukuran waktu komputasi enkripsi RSA-2048 di berbagai spesifikasi hardware perangkat mobile.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4. Menambahkan fitur QR Code / Safety Number untuk verifikasi kunci publik kontak.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5. Mengembangkan protokol E2EE untuk grup chat menggunakan protokol Sender Keys.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